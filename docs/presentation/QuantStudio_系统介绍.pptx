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开场建议：用一句话定义系统。QuantStudio 系统由计算框架、扩展能力与 Web 工作台共同组成，目标是把数据、模型、研究验证和成果沉淀连接起来。介绍依据为 2026 年 10 月 20 日的本地工作区，包含未提交改动；不是发布版本或生产验收证明。</a:t>
            </a:r>
          </a:p>
          <a:p/>
          <a:p>
            <a:r>
              <a:t>【来源】</a:t>
            </a:r>
          </a:p>
          <a:p>
            <a:r>
              <a:t>[Q02] QuantStudio/docs/Core/计算图框架.ipynb</a:t>
            </a:r>
          </a:p>
          <a:p>
            <a:r>
              <a:t>[E01] QSExt/docs/Graph/README.md</a:t>
            </a:r>
          </a:p>
          <a:p>
            <a:r>
              <a:t>[W01] QSWeb/docs/13-统一计算图工作台.md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本页是管理层摘要。第一，统一计算表达：因子、回测等计算对象建立在 Node 和引擎之上。第二，研究链路贯通：数据、信号、账户、风险和报告可以在同一体系组织。第三，研究资产沉淀：QSRegistry 管理计算对象元信息和依赖关系，QSWeb 保存图文档修订与运行记录。这里的价值是架构带来的组织能力，未声明量化的提效或收益。</a:t>
            </a:r>
          </a:p>
          <a:p/>
          <a:p>
            <a:r>
              <a:t>【来源】</a:t>
            </a:r>
          </a:p>
          <a:p>
            <a:r>
              <a:t>[Q02] QuantStudio/docs/Core/计算图框架.ipynb</a:t>
            </a:r>
          </a:p>
          <a:p>
            <a:r>
              <a:t>[Q06] QuantStudio/docs/因子框架/基本框架.ipynb</a:t>
            </a:r>
          </a:p>
          <a:p>
            <a:r>
              <a:t>[E07] QSExt/QSExt/QSRegistry/QSGraphDB.py</a:t>
            </a:r>
          </a:p>
          <a:p>
            <a:r>
              <a:t>[W01] QSWeb/docs/13-统一计算图工作台.md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以下左列是量化研究常见的组织问题，用于说明系统的设计动机，不是针对当前团队的诊断结论。右列对应可在代码中确认的机制。收益方向是减少重复开发、提高可追溯性；实际效果应通过试点测量。</a:t>
            </a:r>
          </a:p>
          <a:p/>
          <a:p>
            <a:r>
              <a:t>【来源】</a:t>
            </a:r>
          </a:p>
          <a:p>
            <a:r>
              <a:t>[Q06] QuantStudio/docs/因子框架/基本框架.ipynb</a:t>
            </a:r>
          </a:p>
          <a:p>
            <a:r>
              <a:t>[E04] QSExt/docs/DefModule/DefModule.md</a:t>
            </a:r>
          </a:p>
          <a:p>
            <a:r>
              <a:t>[E07] QSExt/QSExt/QSRegistry/QSGraphDB.py</a:t>
            </a:r>
          </a:p>
          <a:p>
            <a:r>
              <a:t>[W01] QSWeb/docs/13-统一计算图工作台.md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从上向下讲解。QSWeb 负责页面、用户资源、图文档修订、任务与结果。QSExt Graph 接受 GraphDocument，通过定义目录、静态校验与编译构造 QuantStudio 对象，模块自身不依赖 FastAPI 或任务管理器。QSExt 的 QSRegistry、DefModule、ReportGenerator 是并列扩展能力。QuantStudio 引擎执行节点，Factor、BackTest、Risk 与 PortfolioConstructor 提供领域能力。下方两类存储区分业务数据与元信息，不把 Neo4j 描述为行情或所有结果的统一存储。</a:t>
            </a:r>
          </a:p>
          <a:p/>
          <a:p>
            <a:r>
              <a:t>【来源】</a:t>
            </a:r>
          </a:p>
          <a:p>
            <a:r>
              <a:t>[Q02] QuantStudio/docs/Core/计算图框架.ipynb</a:t>
            </a:r>
          </a:p>
          <a:p>
            <a:r>
              <a:t>[E01] QSExt/docs/Graph/README.md</a:t>
            </a:r>
          </a:p>
          <a:p>
            <a:r>
              <a:t>[W01] QSWeb/docs/13-统一计算图工作台.md</a:t>
            </a:r>
          </a:p>
          <a:p>
            <a:r>
              <a:t>[W03] QSWeb/backend/app/services/graph_service.py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此处为逻辑能力链路，并不意味着所有项目自动执行这六步。单因子研究可以从数据到检验直接生成报告；策略研究可额外使用账户回测与组合优化。底部强调沉淀与复用，由不同持久化机制共同支持，而非每次运行都自动登记到 QSRegistry。</a:t>
            </a:r>
          </a:p>
          <a:p/>
          <a:p>
            <a:r>
              <a:t>【来源】</a:t>
            </a:r>
          </a:p>
          <a:p>
            <a:r>
              <a:t>[Q06] QuantStudio/docs/因子框架/基本框架.ipynb</a:t>
            </a:r>
          </a:p>
          <a:p>
            <a:r>
              <a:t>[Q08] QuantStudio/QuantStudio/BackTest/SectionFactor/api.py</a:t>
            </a:r>
          </a:p>
          <a:p>
            <a:r>
              <a:t>[Q09] QuantStudio/docs/回测框架/策略回测.ipynb</a:t>
            </a:r>
          </a:p>
          <a:p>
            <a:r>
              <a:t>[Q13] QuantStudio/docs/组合优化/基本框架.ipynb</a:t>
            </a:r>
          </a:p>
          <a:p>
            <a:r>
              <a:t>[E08] QSExt/QSExt/ReportGenerator/__init__.py</a:t>
            </a:r>
          </a:p>
          <a:p>
            <a:r>
              <a:t>[W01] QSWeb/docs/13-统一计算图工作台.md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核心框架包含聚源、SQL、HDF5 等数据源；QSExt 扩展 AKShare、ClickHouse、DuckDB、MongoDB、Neo4j、Zarr 等适配器。适配器存在不等于所有接口都在同一部署中可用，实际需安装依赖和配置连接。右侧说明逻辑数据组织：因子表为因子 × 时点 × 证券，单因子为时点 × 证券的 DataFrame。数据读写权限由具体适配器决定。</a:t>
            </a:r>
          </a:p>
          <a:p/>
          <a:p>
            <a:r>
              <a:t>【来源】</a:t>
            </a:r>
          </a:p>
          <a:p>
            <a:r>
              <a:t>[Q06] QuantStudio/docs/因子框架/基本框架.ipynb</a:t>
            </a:r>
          </a:p>
          <a:p>
            <a:r>
              <a:t>[Q07] QuantStudio/QuantStudio/Factor/api.py</a:t>
            </a:r>
          </a:p>
          <a:p>
            <a:r>
              <a:t>[E14] QSExt/QSExt/Factor/AKShareDB.py</a:t>
            </a:r>
          </a:p>
          <a:p>
            <a:r>
              <a:t>[E15] QSExt/QSExt/Factor/ClickHouseDB.py</a:t>
            </a:r>
          </a:p>
          <a:p>
            <a:r>
              <a:t>[E16] QSExt/QSExt/Factor/DuckDB.py</a:t>
            </a:r>
          </a:p>
          <a:p>
            <a:r>
              <a:t>[E17] QSExt/QSExt/Factor/MongoDB.py</a:t>
            </a:r>
          </a:p>
          <a:p>
            <a:r>
              <a:t>[E18] QSExt/QSExt/Factor/Neo4jDB.py</a:t>
            </a:r>
          </a:p>
          <a:p>
            <a:r>
              <a:t>[E19] QSExt/QSExt/Factor/ZarrDB.py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图中箭头表示结果流向，是对真实模型的简化示意。数据读取和衍生因子共同形成计算图，因子检验与账户回测可共享因子结果，报告依赖上游计算输出。引擎包括顺序、显式栈、多进程与树形等变体，本页仅概括单机顺序和并行能力，不宣称分布式集群或未经测量的性能。数据版本与执行键决定缓存隔离，不能仅凭同一 QSID 承诺跨运行复用。</a:t>
            </a:r>
          </a:p>
          <a:p/>
          <a:p>
            <a:r>
              <a:t>【来源】</a:t>
            </a:r>
          </a:p>
          <a:p>
            <a:r>
              <a:t>[Q02] QuantStudio/docs/Core/计算图框架.ipynb</a:t>
            </a:r>
          </a:p>
          <a:p>
            <a:r>
              <a:t>[Q03] QuantStudio/QuantStudio/Core/Node.py</a:t>
            </a:r>
          </a:p>
          <a:p>
            <a:r>
              <a:t>[Q04] QuantStudio/QuantStudio/Core/CalcEngine.py</a:t>
            </a:r>
          </a:p>
          <a:p>
            <a:r>
              <a:t>[Q05] QuantStudio/QuantStudio/Core/ParallelEngine.py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本页从用户指定的两份 QSResearch 脚本中节选 Liquidity 与 Size 的真实构建链路，不执行脚本或连接数据库。描述子脚本 stock_cn_factor_barra_descriptor.py 第 436–445 行：STOM 由日换手率和上市、交易标志计算，默认使用 21 日窗口并检查有效交易比例；STOQ 调用 calcSTOQ(STOM)，默认 T=3、T1=21、非空数=2；STOA 使用 calcSTOQ.new 修改 T=12、T1=21、非空数=4 及 LookBack，仍以 STOM 为输入。该算子对抽样 STOM 先取指数、平均，再取对数，不是直接算术平均对数值。第 402 行：LNCAP 为总市值的自然对数。风格因子脚本 stock_cn_factor_barra.py 第 157–160 行：每项描述子都经过 standardize → winsorize → standardize，图中星号表示处理后的描述子。standardize 使用 ESTU 中有效样本计算市值加权均值与非加权标准差，winsorize 使用该脚本定义的极值压缩方法。第 164、170、176–183 行：Size 来自处理后的 LNCAP，并在风格层标准化；Liquidity 以 STOM*、STOQ*、STOA* 按 0.35、0.35、0.30 组合，Mean 使用 ignore_nan_weight=True，然后先标准化、对 Size 回归取残差，再标准化。正交化使用的 Size 是当时的中间状态，尚未执行最终填缺处理。第 197–199 行：各风格因子再按行业和对数市值等信息填充缺失值，并最终标准化。为突出主依赖，图中折叠了市值、ESTU、行业及上市状态通向各算子的辅助连线，也未展开 Size 最后的填缺和标准化输出分支。图中模块对应实际计算步骤，不宣称原脚本已经封装为 QSExt Graph 子图组件。</a:t>
            </a:r>
          </a:p>
          <a:p/>
          <a:p>
            <a:r>
              <a:t>【来源】</a:t>
            </a:r>
          </a:p>
          <a:p>
            <a:r>
              <a:t>[R01] QSResearch/QSResearch/FactorDef/JY/stock_cn_factor_barra.py</a:t>
            </a:r>
          </a:p>
          <a:p>
            <a:r>
              <a:t>[R02] QSResearch/QSResearch/FactorDef/JY/stock_cn_factor_barra_descriptor.py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四类算子按依赖数据的范围区分：单点运算处理同一时间同一证券，时序运算使用历史时间序列，截面运算使用同一时点的证券集合，面板运算同时跨时间与证券。右侧例子仅用于解释范围，不意味着系统内置所有对应业务因子。自定义算子及参数声明使其可参与计算图，也可成为 Web 组件的元信息来源。</a:t>
            </a:r>
          </a:p>
          <a:p/>
          <a:p>
            <a:r>
              <a:t>【来源】</a:t>
            </a:r>
          </a:p>
          <a:p>
            <a:r>
              <a:t>[Q06] QuantStudio/docs/因子框架/基本框架.ipynb</a:t>
            </a:r>
          </a:p>
          <a:p>
            <a:r>
              <a:t>[Q07] QuantStudio/QuantStudio/Factor/api.py</a:t>
            </a:r>
          </a:p>
          <a:p>
            <a:r>
              <a:t>[E04] QSExt/docs/DefModule/DefModule.md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截面因子模块对外提供 IC、分位数组合、相关性、因子换手和 Fama–MacBeth 回归等分析。绩效归因用于解释收益来源，现有业绩归因模块包含配置与选择的收益分解。六个卡片对应不同的研究问题，不能由一个指标代替全部验证。PPT 不展示虚构的收益、IC 或夏普值。研究结论还需独立的样本外检验和适当的数据时间口径，这是研究流程建议。</a:t>
            </a:r>
          </a:p>
          <a:p/>
          <a:p>
            <a:r>
              <a:t>【来源】</a:t>
            </a:r>
          </a:p>
          <a:p>
            <a:r>
              <a:t>[Q08] QuantStudio/QuantStudio/BackTest/SectionFactor/api.py</a:t>
            </a:r>
          </a:p>
          <a:p>
            <a:r>
              <a:t>[Q09] QuantStudio/docs/回测框架/策略回测.ipynb</a:t>
            </a:r>
          </a:p>
          <a:p>
            <a:r>
              <a:t>[Q15] QuantStudio/QuantStudio/BackTest/PerformanceAnalysis/BrinsonModel.py</a:t>
            </a:r>
          </a:p>
          <a:p>
            <a:r>
              <a:t>[W01] QSWeb/docs/13-统一计算图工作台.md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QuantStudio 提供两类方式：信号因子加 MakeAccount，以及继承 MakeStrategy 并实现 genSignal。Web Python 策略遵循 build_strategy(args, factors, price) 显式入口契约。MakeAccount 接受价格、交易信号、买卖费率、买卖限制及金额限制等输入，输出现金、持仓、成交量、成交价和费用等账户数据。AccountStats 计算绩效，再由 AccountReport 输出报告。这里描述历史研究和模拟能力，不包含券商接入或实盘执行承诺。</a:t>
            </a:r>
          </a:p>
          <a:p/>
          <a:p>
            <a:r>
              <a:t>【来源】</a:t>
            </a:r>
          </a:p>
          <a:p>
            <a:r>
              <a:t>[Q09] QuantStudio/docs/回测框架/策略回测.ipynb</a:t>
            </a:r>
          </a:p>
          <a:p>
            <a:r>
              <a:t>[Q10] QuantStudio/QuantStudio/BackTest/Strategy/Strategy.py</a:t>
            </a:r>
          </a:p>
          <a:p>
            <a:r>
              <a:t>[W01] QSWeb/docs/13-统一计算图工作台.md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核心风险模块包含风险库与多因子风险数据结构，并有 Barra 风格风险模型实现。QSWeb 风险管理更侧重风险库浏览、矩阵展示与风险分解，不将其等同于完整的 Web 风险模型训练平台。组合优化核心和 Web 页面均提供均值方差、风险预算、最大分散化三类目标。核心约束还包括因子暴露、波动与预期收益；Web 服务当前接入预算、权重、换手和非零权重数目约束，具体组合依赖场景及求解器。优化输出不是收益承诺。</a:t>
            </a:r>
          </a:p>
          <a:p/>
          <a:p>
            <a:r>
              <a:t>【来源】</a:t>
            </a:r>
          </a:p>
          <a:p>
            <a:r>
              <a:t>[Q11] QuantStudio/docs/风险模型/基本框架.ipynb</a:t>
            </a:r>
          </a:p>
          <a:p>
            <a:r>
              <a:t>[Q12] QuantStudio/QuantStudio/Risk/RiskModel/BarraModel.py</a:t>
            </a:r>
          </a:p>
          <a:p>
            <a:r>
              <a:t>[Q13] QuantStudio/docs/组合优化/基本框架.ipynb</a:t>
            </a:r>
          </a:p>
          <a:p>
            <a:r>
              <a:t>[Q14] QuantStudio/QuantStudio/PortfolioConstructor/api.py</a:t>
            </a:r>
          </a:p>
          <a:p>
            <a:r>
              <a:t>[W07] QSWeb/backend/app/services/risk_service.py</a:t>
            </a:r>
          </a:p>
          <a:p>
            <a:r>
              <a:t>[W08] QSWeb/backend/app/services/portfolio_service.py</a:t>
            </a:r>
          </a:p>
          <a:p>
            <a:r>
              <a:t>[W21] QSWeb/frontend/src/pages/PortfolioOptimizer/ObjectiveConfig.tsx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DefModule 是当前统一因子和策略定义框架，支持 defNode、defFactor、defStrategy，运行时上下文管理数据源、日期、截面和模型参数，并可解析依赖。不同项目文档仍可能保留旧 FactorDef/StrategyDef 说明，本介绍采用当前 DefModule。QSRegistry 基于 Neo4j，存储因子、脚本、策略、回测、风险表、优化器及报告等元信息和关系。登记、查询、重建与影响分析提供复用基础；外部代码、数据源和运行环境仍需可用。MCP 工具为助手暴露查询等能力。</a:t>
            </a:r>
          </a:p>
          <a:p/>
          <a:p>
            <a:r>
              <a:t>【来源】</a:t>
            </a:r>
          </a:p>
          <a:p>
            <a:r>
              <a:t>[E04] QSExt/docs/DefModule/DefModule.md</a:t>
            </a:r>
          </a:p>
          <a:p>
            <a:r>
              <a:t>[E05] QSExt/QSExt/DefModule/DefContent.py</a:t>
            </a:r>
          </a:p>
          <a:p>
            <a:r>
              <a:t>[E06] QSExt/QSExt/RuntimeConfig/config.py</a:t>
            </a:r>
          </a:p>
          <a:p>
            <a:r>
              <a:t>[E07] QSExt/QSExt/QSRegistry/QSGraphDB.py</a:t>
            </a:r>
          </a:p>
          <a:p>
            <a:r>
              <a:t>[E13] QSExt/mcp/qs_registry.py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本页为真实 QSWeb 前端编辑器的本地截图。通过项目已有浏览器测试挂载入口加载真实组件，接口由确定性演示夹具替代；图结构用于展示连接关系，没有访问真实业务数据库，也没有计算策略绩效。截图中的组件名称为演示定义，图处于待执行状态。页面提供组件库、节点设置、运行及诊断与结果入口，实际功能由 QSExt Graph 与后端服务支持。</a:t>
            </a:r>
          </a:p>
          <a:p/>
          <a:p>
            <a:r>
              <a:t>【来源】</a:t>
            </a:r>
          </a:p>
          <a:p>
            <a:r>
              <a:t>[W01] QSWeb/docs/13-统一计算图工作台.md</a:t>
            </a:r>
          </a:p>
          <a:p>
            <a:r>
              <a:t>[W15] QSWeb/frontend/src/components/Layout/MainLayout.tsx</a:t>
            </a:r>
          </a:p>
          <a:p>
            <a:r>
              <a:t>[W16] QSWeb/frontend/src/components/GraphEditor/index.tsx</a:t>
            </a:r>
          </a:p>
          <a:p>
            <a:r>
              <a:t>[W17] QSWeb/tests/graph_editor.mount.tsx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GraphDocument 保存组件定义引用、参数、输入绑定与输出；页面布局属于扩展数据。静态校验不构造业务计算对象，也不访问业务数据库。明确提交任务后，后端读取指定图修订并检查资源，编译构造 Node/Factor，通过 QuantStudio 引擎运行。运行配置区分计算日期与带历史回溯的时点标尺。长任务当前使用内存 asyncio 管理器，WebSocket/轮询提供进度，图运行记录另外持久化；这不是可跨服务重启恢复的分布式任务队列。</a:t>
            </a:r>
          </a:p>
          <a:p/>
          <a:p>
            <a:r>
              <a:t>【来源】</a:t>
            </a:r>
          </a:p>
          <a:p>
            <a:r>
              <a:t>[E01] QSExt/docs/Graph/README.md</a:t>
            </a:r>
          </a:p>
          <a:p>
            <a:r>
              <a:t>[E02] QSExt/QSExt/Graph/Compiler.py</a:t>
            </a:r>
          </a:p>
          <a:p>
            <a:r>
              <a:t>[W03] QSWeb/backend/app/services/graph_service.py</a:t>
            </a:r>
          </a:p>
          <a:p>
            <a:r>
              <a:t>[W04] QSWeb/backend/app/services/graph_runtime.py</a:t>
            </a:r>
          </a:p>
          <a:p>
            <a:r>
              <a:t>[W05] QSWeb/backend/app/services/graph_repository.py</a:t>
            </a:r>
          </a:p>
          <a:p>
            <a:r>
              <a:t>[W06] QSWeb/backend/app/tasks/manager.py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QSExt ReportGenerator 继承 ReportNode，可参与计算图并被 BTReport 聚合；提供 YAML 配置、布局组件以及 HTML/Markdown 渲染。场景目录包含 single_factor、multi_factor、single_strategy、multi_strategy。图表可使用 Plotly 或 Matplotlib。报告中心提供生成、预览及注册相关流程。图中为能力关系示意，不是实际研究报告截图，也没有虚构业绩图。注册中心可以将报告与因子和回测对象关联，用于检索与追踪。</a:t>
            </a:r>
          </a:p>
          <a:p/>
          <a:p>
            <a:r>
              <a:t>【来源】</a:t>
            </a:r>
          </a:p>
          <a:p>
            <a:r>
              <a:t>[E07] QSExt/QSExt/QSRegistry/QSGraphDB.py</a:t>
            </a:r>
          </a:p>
          <a:p>
            <a:r>
              <a:t>[E08] QSExt/QSExt/ReportGenerator/__init__.py</a:t>
            </a:r>
          </a:p>
          <a:p>
            <a:r>
              <a:t>[E09] QSExt/QSExt/ReportGenerator/scenarios/__init__.py</a:t>
            </a:r>
          </a:p>
          <a:p>
            <a:r>
              <a:t>[W09] QSWeb/backend/app/services/report_service.py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当前代码具备三个不同层次的能力：AI 工作台使用 Agent SDK 提供多轮辅助开发；GPFactor 通过遗传规划与适应度评价搜索表达式；LLMFactor 包含多轮假设、开发与评价相关流程，QSWeb mining_service 实际包含 llm_factor 提交及执行分支，尽管服务文件顶部仍有仅集成 GP 的旧说明。这里依据实际实现而非旧注释。MCP 可查询注册对象和代码。依赖模型服务、权限、数据和评估配置，不能宣称全自动产出有效 Alpha 或已完成独立有效性验证。</a:t>
            </a:r>
          </a:p>
          <a:p/>
          <a:p>
            <a:r>
              <a:t>【来源】</a:t>
            </a:r>
          </a:p>
          <a:p>
            <a:r>
              <a:t>[E10] QSExt/QSExt/GPFactor/GPLearn.py</a:t>
            </a:r>
          </a:p>
          <a:p>
            <a:r>
              <a:t>[E11] QSExt/QSExt/GPFactor/fitness.py</a:t>
            </a:r>
          </a:p>
          <a:p>
            <a:r>
              <a:t>[E12] QSExt/QSExt/LLMFactor/loop/round_runner.py</a:t>
            </a:r>
          </a:p>
          <a:p>
            <a:r>
              <a:t>[E13] QSExt/mcp/qs_registry.py</a:t>
            </a:r>
          </a:p>
          <a:p>
            <a:r>
              <a:t>[W10] QSWeb/backend/app/services/mining_service.py</a:t>
            </a:r>
          </a:p>
          <a:p>
            <a:r>
              <a:t>[W11] QSWeb/backend/app/services/ai_service.py</a:t>
            </a:r>
          </a:p>
          <a:p>
            <a:r>
              <a:t>[W18] QSWeb/frontend/src/pages/MiningStudio/index.tsx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系统适合小团队自部署。Web 前端使用 React/TypeScript，后端使用 FastAPI；计算由同环境的 QuantStudio/QSExt 承接。应用数据库保存用户、图修订和运行等信息，Neo4j 负责注册元信息与依赖关系；因子和风险数据存于各自后端，不能混同。配置、共享组件、用户目录和日志从服务目录组织；Notebook/JupyterLab 按部署配置接入。现有任务管理器是内存模型，不承诺高可用、分布式集群或服务重启后的任务恢复。</a:t>
            </a:r>
          </a:p>
          <a:p/>
          <a:p>
            <a:r>
              <a:t>【来源】</a:t>
            </a:r>
          </a:p>
          <a:p>
            <a:r>
              <a:t>[W12] QSWeb/backend/app/core/security.py</a:t>
            </a:r>
          </a:p>
          <a:p>
            <a:r>
              <a:t>[W13] QSWeb/backend/app/core/user_workspace.py</a:t>
            </a:r>
          </a:p>
          <a:p>
            <a:r>
              <a:t>[W14] QSWeb/docker-compose.yml</a:t>
            </a:r>
          </a:p>
          <a:p>
            <a:r>
              <a:t>[W19] QSWeb/frontend/src/pages/Notebook/index.tsx</a:t>
            </a:r>
          </a:p>
          <a:p>
            <a:r>
              <a:t>[W20] QSWeb/docs/12-服务启动目录与初始化.md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让研究成果持续积累，让团队能力持续生长。QuantStudio 系统连接数据、计算、验证与知识沉淀。</a:t>
            </a:r>
          </a:p>
          <a:p/>
          <a:p>
            <a:r>
              <a:t>【来源】</a:t>
            </a:r>
          </a:p>
          <a:p>
            <a:r>
              <a:t>[Q02] QuantStudio/docs/Core/计算图框架.ipynb</a:t>
            </a:r>
          </a:p>
          <a:p>
            <a:r>
              <a:t>[E01] QSExt/docs/Graph/README.md</a:t>
            </a:r>
          </a:p>
          <a:p>
            <a:r>
              <a:t>[E07] QSExt/QSExt/QSRegistry/QSGraphDB.py</a:t>
            </a:r>
          </a:p>
          <a:p>
            <a:r>
              <a:t>[W01] QSWeb/docs/13-统一计算图工作台.md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本页供技术评审或问答使用。风险模型实现属于核心，Web 更多是浏览与分析；核心约束比 Web 服务实际接入范围更广，三类优化目标已同时接入前后端；底层有多进程并行，但 Web 任务管理器为内存 asyncio，不能据此宣称分布式任务调度与高可用。注册中心存元信息与关系，数据和文件需独立管理。AI 和外部数据源需依赖服务及授权。历史回测能力不代表已提供实盘交易系统。PPT 未连接业务库或跑策略，因此不作生产可用性或数值结果背书。</a:t>
            </a:r>
          </a:p>
          <a:p/>
          <a:p>
            <a:r>
              <a:t>【来源】</a:t>
            </a:r>
          </a:p>
          <a:p>
            <a:r>
              <a:t>[Q12] QuantStudio/QuantStudio/Risk/RiskModel/BarraModel.py</a:t>
            </a:r>
          </a:p>
          <a:p>
            <a:r>
              <a:t>[Q14] QuantStudio/QuantStudio/PortfolioConstructor/api.py</a:t>
            </a:r>
          </a:p>
          <a:p>
            <a:r>
              <a:t>[W01] QSWeb/docs/13-统一计算图工作台.md</a:t>
            </a:r>
          </a:p>
          <a:p>
            <a:r>
              <a:t>[W06] QSWeb/backend/app/tasks/manager.py</a:t>
            </a:r>
          </a:p>
          <a:p>
            <a:r>
              <a:t>[W07] QSWeb/backend/app/services/risk_service.py</a:t>
            </a:r>
          </a:p>
          <a:p>
            <a:r>
              <a:t>[W08] QSWeb/backend/app/services/portfolio_service.py</a:t>
            </a:r>
          </a:p>
          <a:p>
            <a:r>
              <a:t>[W10] QSWeb/backend/app/services/mining_service.py</a:t>
            </a:r>
          </a:p>
          <a:p>
            <a:r>
              <a:t>[W14] QSWeb/docker-compose.yml</a:t>
            </a:r>
          </a:p>
          <a:p>
            <a:r>
              <a:t>[W21] QSWeb/frontend/src/pages/PortfolioOptimizer/ObjectiveConfig.tsx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</a:t>
            </a:r>
          </a:p>
          <a:p>
            <a:r>
              <a:t>资料方法：先阅读项目规范、QuantStudio 通则 Notebook，再检查核心接口与最新实现。QSExt 和 QSWeb 部分旧说明与代码不同，以 Graph、DefModule 和统一计算图工作台的现行实现为主。引用编号在每页页脚展示，完整来源在各页备注与 sources.json 中。sources.json 记录文件 SHA-256、当前 HEAD 以及引用页码；Git HEAD 不能代表未提交工作区状态，文件哈希用于辅助识别本次依据。真实 UI 截图由本地演示夹具生成，未运行真实策略或访问业务数据库。能力介绍不包含生产验收、性能基准与投资业绩结论。</a:t>
            </a:r>
          </a:p>
          <a:p/>
          <a:p>
            <a:r>
              <a:t>【来源】</a:t>
            </a:r>
          </a:p>
          <a:p>
            <a:r>
              <a:t>[Q01] QuantStudio/docs/通则和约定.ipynb</a:t>
            </a:r>
          </a:p>
          <a:p>
            <a:r>
              <a:t>[Q02] QuantStudio/docs/Core/计算图框架.ipynb</a:t>
            </a:r>
          </a:p>
          <a:p>
            <a:r>
              <a:t>[E01] QSExt/docs/Graph/README.md</a:t>
            </a:r>
          </a:p>
          <a:p>
            <a:r>
              <a:t>[E04] QSExt/docs/DefModule/DefModule.md</a:t>
            </a:r>
          </a:p>
          <a:p>
            <a:r>
              <a:t>[E07] QSExt/QSExt/QSRegistry/QSGraphDB.py</a:t>
            </a:r>
          </a:p>
          <a:p>
            <a:r>
              <a:t>[W01] QSWeb/docs/13-统一计算图工作台.md</a:t>
            </a:r>
          </a:p>
          <a:p>
            <a:r>
              <a:t>[W03] QSWeb/backend/app/services/graph_service.py</a:t>
            </a:r>
          </a:p>
          <a:p/>
          <a:p>
            <a:r>
              <a:t>【范围】依据 2026-10-20 本地工作区；涉及推导、场景示意与采用建议时已说明。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3760" y="304800"/>
            <a:ext cx="6400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系统总览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15240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447800"/>
            <a:ext cx="4464962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1F5FA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" y="2590800"/>
            <a:ext cx="3185160" cy="662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7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让量化研究成为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" y="3187446"/>
            <a:ext cx="3627120" cy="662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7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可积累的系统能力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" y="4076700"/>
            <a:ext cx="470904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量化计算框架 × 研究扩展生态 × 统一 Web 工作台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" y="5654040"/>
            <a:ext cx="249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QUANTSTUDIO  /  QSEXT  /  QSWEB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8458200" y="1409700"/>
            <a:ext cx="1524000" cy="304800"/>
          </a:xfrm>
          <a:prstGeom prst="line">
            <a:avLst/>
          </a:prstGeom>
          <a:ln w="22859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982200" y="1409700"/>
            <a:ext cx="1143000" cy="1028700"/>
          </a:xfrm>
          <a:prstGeom prst="line">
            <a:avLst/>
          </a:prstGeom>
          <a:ln w="22859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58200" y="1714500"/>
            <a:ext cx="533400" cy="1409700"/>
          </a:xfrm>
          <a:prstGeom prst="line">
            <a:avLst/>
          </a:prstGeom>
          <a:ln w="22859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991600" y="2438400"/>
            <a:ext cx="2133600" cy="685800"/>
          </a:xfrm>
          <a:prstGeom prst="line">
            <a:avLst/>
          </a:prstGeom>
          <a:ln w="22859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0591800" y="2438400"/>
            <a:ext cx="533400" cy="1485900"/>
          </a:xfrm>
          <a:prstGeom prst="line">
            <a:avLst/>
          </a:prstGeom>
          <a:ln w="22859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91600" y="3124200"/>
            <a:ext cx="1600200" cy="800100"/>
          </a:xfrm>
          <a:prstGeom prst="line">
            <a:avLst/>
          </a:prstGeom>
          <a:ln w="22859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458200" y="3124200"/>
            <a:ext cx="533400" cy="1638300"/>
          </a:xfrm>
          <a:prstGeom prst="line">
            <a:avLst/>
          </a:prstGeom>
          <a:ln w="22859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591800" y="3924300"/>
            <a:ext cx="609600" cy="1409700"/>
          </a:xfrm>
          <a:prstGeom prst="line">
            <a:avLst/>
          </a:prstGeom>
          <a:ln w="22859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58200" y="4762500"/>
            <a:ext cx="2743200" cy="571500"/>
          </a:xfrm>
          <a:prstGeom prst="line">
            <a:avLst/>
          </a:prstGeom>
          <a:ln w="22859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366760" y="1623060"/>
            <a:ext cx="182880" cy="18288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7720" y="1684020"/>
            <a:ext cx="60960" cy="60960"/>
          </a:xfrm>
          <a:prstGeom prst="ellipse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90760" y="1318260"/>
            <a:ext cx="182880" cy="182880"/>
          </a:xfrm>
          <a:prstGeom prst="ellipse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51720" y="1379220"/>
            <a:ext cx="60960" cy="60960"/>
          </a:xfrm>
          <a:prstGeom prst="ellipse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33760" y="2346960"/>
            <a:ext cx="182880" cy="182880"/>
          </a:xfrm>
          <a:prstGeom prst="ellipse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94720" y="2407920"/>
            <a:ext cx="60960" cy="60960"/>
          </a:xfrm>
          <a:prstGeom prst="ellipse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00160" y="3032760"/>
            <a:ext cx="182880" cy="18288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0" y="3093720"/>
            <a:ext cx="60960" cy="60960"/>
          </a:xfrm>
          <a:prstGeom prst="ellipse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00360" y="3832860"/>
            <a:ext cx="182880" cy="182880"/>
          </a:xfrm>
          <a:prstGeom prst="ellipse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61320" y="3893820"/>
            <a:ext cx="60960" cy="60960"/>
          </a:xfrm>
          <a:prstGeom prst="ellipse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66760" y="4671060"/>
            <a:ext cx="182880" cy="18288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27720" y="4732020"/>
            <a:ext cx="60960" cy="60960"/>
          </a:xfrm>
          <a:prstGeom prst="ellipse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09960" y="5242560"/>
            <a:ext cx="182880" cy="182880"/>
          </a:xfrm>
          <a:prstGeom prst="ellipse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170920" y="5303520"/>
            <a:ext cx="60960" cy="60960"/>
          </a:xfrm>
          <a:prstGeom prst="ellipse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5715000"/>
            <a:ext cx="1463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从计算到知识的连接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5500" y="6454140"/>
            <a:ext cx="119634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依据：Q02 · E01 · W01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01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4800"/>
            <a:ext cx="10210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01  /  系统定位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708660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一个系统，贯通量化研究的三个关键环节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4853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从模型表达、研究验证，到可检索与可复用的研究资产。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133600"/>
            <a:ext cx="3505200" cy="29718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133600"/>
            <a:ext cx="30480" cy="297180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40" y="2308860"/>
            <a:ext cx="289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340" y="2712720"/>
            <a:ext cx="160020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统一计算表达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40" y="3223260"/>
            <a:ext cx="256032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以计算图组织因子、策略、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40" y="3521583"/>
            <a:ext cx="276606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回测与报告，减少重复编排。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133600"/>
            <a:ext cx="3505200" cy="29718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133600"/>
            <a:ext cx="30480" cy="297180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9140" y="2308860"/>
            <a:ext cx="289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81B5FF"/>
                </a:solidFill>
                <a:latin typeface="Segoe U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9140" y="2712720"/>
            <a:ext cx="160020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贯通研究验证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9140" y="3223260"/>
            <a:ext cx="235458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把数据加工、因子检验、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9140" y="3521583"/>
            <a:ext cx="276606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账户模拟与组合约束串起来。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7200" y="2133600"/>
            <a:ext cx="3505200" cy="29718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7200" y="2133600"/>
            <a:ext cx="30480" cy="2971800"/>
          </a:xfrm>
          <a:prstGeom prst="rect">
            <a:avLst/>
          </a:prstGeom>
          <a:solidFill>
            <a:srgbClr val="DC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2940" y="2308860"/>
            <a:ext cx="289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CC49A"/>
                </a:solidFill>
                <a:latin typeface="Segoe U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2940" y="2712720"/>
            <a:ext cx="160020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沉淀研究资产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2940" y="3223260"/>
            <a:ext cx="29718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保存定义、依赖、修订与结果，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2940" y="3521583"/>
            <a:ext cx="276606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支持检索、追溯及后续复用。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5539740"/>
            <a:ext cx="67208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管理视角：把个人研究成果转化为团队可以持续使用的基础能力。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5940" y="6454140"/>
            <a:ext cx="148590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依据：Q02 · Q06 · E07 · W01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4800"/>
            <a:ext cx="10210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01  /  系统定位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747522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把分散的研究动作，组织成连续的研究链路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4663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系统设计回应的是数据、模型与结果之间的衔接问题。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143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常见研究断点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7900" y="2057400"/>
            <a:ext cx="209538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QuantStudio 的对应机制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484120"/>
            <a:ext cx="10972800" cy="67818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67000"/>
            <a:ext cx="141732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数据接口各异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98720" y="2819400"/>
            <a:ext cx="5715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57900" y="2667000"/>
            <a:ext cx="32004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统一因子库 / 因子表 / 因子接口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299460"/>
            <a:ext cx="10972800" cy="67818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82340"/>
            <a:ext cx="20802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脚本之间靠人工衔接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98720" y="3634740"/>
            <a:ext cx="5715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57900" y="3482340"/>
            <a:ext cx="230124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依赖声明与计算图编排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4114800"/>
            <a:ext cx="10972800" cy="67818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20802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计算结果与报告分离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98720" y="4450080"/>
            <a:ext cx="5715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57900" y="4297680"/>
            <a:ext cx="252222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计算节点与报告节点连接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4930140"/>
            <a:ext cx="10972800" cy="67818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13020"/>
            <a:ext cx="20802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成果难以检索和复用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98720" y="5265420"/>
            <a:ext cx="5715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57900" y="5113020"/>
            <a:ext cx="296418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注册中心、血缘查询与图修订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8800" y="6454140"/>
            <a:ext cx="146304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依据：Q06 · E04 · E07 · W01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4800"/>
            <a:ext cx="10210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02  /  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747522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三层分工，让计算内核与应用界面各司其职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7177801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QuantStudio 管计算语义，QSExt 管扩展与图协议，QSWeb 管工作台与运行交互。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057400"/>
            <a:ext cx="10972800" cy="9601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057400"/>
            <a:ext cx="53340" cy="96012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440" y="2263140"/>
            <a:ext cx="99810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1B5FF"/>
                </a:solidFill>
                <a:latin typeface="Segoe UI"/>
                <a:ea typeface="Microsoft YaHei"/>
                <a:cs typeface="Microsoft YaHei"/>
              </a:rPr>
              <a:t>QSWeb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5200" y="2354580"/>
            <a:ext cx="578358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统一计算图工作台 · 数据 / 风险 / 组合 / 报告 · AI / Notebook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238500"/>
            <a:ext cx="10972800" cy="9601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238500"/>
            <a:ext cx="53340" cy="96012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440" y="3444240"/>
            <a:ext cx="80772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QSExt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5200" y="3535680"/>
            <a:ext cx="572262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Graph 图协议与编译 · DefModule · QSRegistry · 报告与挖掘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4419600"/>
            <a:ext cx="10972800" cy="9601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419600"/>
            <a:ext cx="53340" cy="960120"/>
          </a:xfrm>
          <a:prstGeom prst="rect">
            <a:avLst/>
          </a:prstGeom>
          <a:solidFill>
            <a:srgbClr val="DC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440" y="4625340"/>
            <a:ext cx="161532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CC49A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200" y="4716780"/>
            <a:ext cx="611076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Node / Engine · Factor · BackTest · Risk · PortfolioConstructor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02680" y="3025140"/>
            <a:ext cx="0" cy="19050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02680" y="4206240"/>
            <a:ext cx="0" cy="19050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8660" y="5699760"/>
            <a:ext cx="30861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业务数据：因子库 / 风险库 / 结果文件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699760"/>
            <a:ext cx="288036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元信息与修订：Neo4j / 应用数据库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3080" y="6454140"/>
            <a:ext cx="150876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依据：Q02 · E01 · W01 · W03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4800"/>
            <a:ext cx="10210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02  /  研究链路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747522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从数据到决策，六个环节共享一套研究语言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4472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研究链路可围绕相同的因子、计算节点和结果组织。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32660"/>
            <a:ext cx="487680" cy="560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40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849880"/>
            <a:ext cx="1676400" cy="12192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9753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35680"/>
            <a:ext cx="105156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统一读取口径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3436620"/>
            <a:ext cx="1524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68880" y="2232660"/>
            <a:ext cx="487680" cy="560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40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849880"/>
            <a:ext cx="1676400" cy="12192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0800" y="3063240"/>
            <a:ext cx="9753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因子构建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0800" y="3535680"/>
            <a:ext cx="105156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组合算子逻辑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45280" y="3436620"/>
            <a:ext cx="1524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8160" y="2232660"/>
            <a:ext cx="487680" cy="560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40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8160" y="2849880"/>
            <a:ext cx="1676400" cy="12192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0080" y="3063240"/>
            <a:ext cx="9753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研究检验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0080" y="3535680"/>
            <a:ext cx="105156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评价预测能力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4560" y="3436620"/>
            <a:ext cx="1524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87440" y="2232660"/>
            <a:ext cx="487680" cy="560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40" b="0">
                <a:solidFill>
                  <a:srgbClr val="81B5FF"/>
                </a:solidFill>
                <a:latin typeface="Segoe U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40" y="2849880"/>
            <a:ext cx="1676400" cy="12192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063240"/>
            <a:ext cx="9753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策略回测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535680"/>
            <a:ext cx="105156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模拟账户行为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63840" y="3436620"/>
            <a:ext cx="1524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46720" y="2232660"/>
            <a:ext cx="487680" cy="560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40" b="0">
                <a:solidFill>
                  <a:srgbClr val="81B5FF"/>
                </a:solidFill>
                <a:latin typeface="Segoe U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849880"/>
            <a:ext cx="1676400" cy="12192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8640" y="3063240"/>
            <a:ext cx="119634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风险与组合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535680"/>
            <a:ext cx="105156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约束持仓风险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23120" y="3436620"/>
            <a:ext cx="1524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906000" y="2232660"/>
            <a:ext cx="487680" cy="560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40" b="0">
                <a:solidFill>
                  <a:srgbClr val="81B5FF"/>
                </a:solidFill>
                <a:latin typeface="Segoe U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06000" y="2849880"/>
            <a:ext cx="1676400" cy="12192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27920" y="3063240"/>
            <a:ext cx="9753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报告沉淀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27920" y="3535680"/>
            <a:ext cx="105156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保留研究证据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447800" y="4678680"/>
            <a:ext cx="9296400" cy="0"/>
          </a:xfrm>
          <a:prstGeom prst="line">
            <a:avLst/>
          </a:prstGeom>
          <a:ln w="15240">
            <a:solidFill>
              <a:srgbClr val="65E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409700" y="4640580"/>
            <a:ext cx="76200" cy="7620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268980" y="4640580"/>
            <a:ext cx="76200" cy="7620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28260" y="4640580"/>
            <a:ext cx="76200" cy="7620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87540" y="4640580"/>
            <a:ext cx="76200" cy="7620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846820" y="4640580"/>
            <a:ext cx="76200" cy="7620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706100" y="4640580"/>
            <a:ext cx="76200" cy="7620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11880" y="5082540"/>
            <a:ext cx="5059680" cy="354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定义 · 参数 · 依赖 · 图修订 · 运行记录 · 研究报告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5840" y="5516880"/>
            <a:ext cx="2651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形成下一轮研究可以复用的基础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46820" y="6454140"/>
            <a:ext cx="20650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依据：Q06 · Q08 · Q09 · Q13 · E08 · W01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04800"/>
            <a:ext cx="1158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03  /  数据与因子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669798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异构数据源，进入统一的因子数据模型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5425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数据接入的差异封装在适配器内，研究逻辑围绕统一接口展开。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118360"/>
            <a:ext cx="5067300" cy="9220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720" y="2263140"/>
            <a:ext cx="853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金融数据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720" y="2621280"/>
            <a:ext cx="198882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聚源 JYDB · AKShare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223260"/>
            <a:ext cx="5067300" cy="9220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720" y="3368040"/>
            <a:ext cx="1424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关系与分析存储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" y="3726180"/>
            <a:ext cx="260604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SQL · ClickHouse · DuckDB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328160"/>
            <a:ext cx="5067300" cy="9220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720" y="4472940"/>
            <a:ext cx="1424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文件与专用后端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0" y="4831080"/>
            <a:ext cx="30480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HDF5 · Zarr · MongoDB · Neo4j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67400" y="3726180"/>
            <a:ext cx="609600" cy="0"/>
          </a:xfrm>
          <a:prstGeom prst="line">
            <a:avLst/>
          </a:prstGeom>
          <a:ln w="22859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03720" y="2171700"/>
            <a:ext cx="298632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FactorDB → FactorTable → Factor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131820"/>
            <a:ext cx="2971800" cy="1402080"/>
          </a:xfrm>
          <a:prstGeom prst="rect">
            <a:avLst/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42860" y="2979420"/>
            <a:ext cx="2971800" cy="1402080"/>
          </a:xfrm>
          <a:prstGeom prst="rect">
            <a:avLst/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3360" y="2827020"/>
            <a:ext cx="2971800" cy="1402080"/>
          </a:xfrm>
          <a:prstGeom prst="rect">
            <a:avLst/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833360" y="3108960"/>
            <a:ext cx="2971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33360" y="3390900"/>
            <a:ext cx="2971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33360" y="3672840"/>
            <a:ext cx="2971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33360" y="3954780"/>
            <a:ext cx="2971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28660" y="2827020"/>
            <a:ext cx="0" cy="140208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23960" y="2827020"/>
            <a:ext cx="0" cy="140208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19260" y="2827020"/>
            <a:ext cx="0" cy="140208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14560" y="2827020"/>
            <a:ext cx="0" cy="140208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09860" y="2827020"/>
            <a:ext cx="0" cy="140208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47660" y="4838700"/>
            <a:ext cx="2484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因子 × 时点 × 证券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402580"/>
            <a:ext cx="341376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单因子：时间索引 × 证券列的 DataFrame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40" y="5783580"/>
            <a:ext cx="44119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适配器按需配置；数据授权与实际可用性由具体数据源决定。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4860" y="6454140"/>
            <a:ext cx="250698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依据：Q06 · Q07 · E14 · E15 · E16 · E17 · E18 · E19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4800"/>
            <a:ext cx="10210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03  /  计算内核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669798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计算图，让研究逻辑具备可组合的结构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5044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节点表达计算单元，连接表达依赖，引擎负责验证与执行。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712720"/>
            <a:ext cx="1866900" cy="85344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712720"/>
            <a:ext cx="30480" cy="85344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5750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行情因子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5640"/>
            <a:ext cx="96012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读取外部数据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5620" y="2712720"/>
            <a:ext cx="1943100" cy="85344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55620" y="2712720"/>
            <a:ext cx="30480" cy="85344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3260" y="285750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衍生因子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3260" y="3215640"/>
            <a:ext cx="111252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时序 / 截面加工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53100" y="2118360"/>
            <a:ext cx="2057400" cy="85344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53100" y="2118360"/>
            <a:ext cx="30480" cy="85344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0740" y="226314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因子检验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0740" y="2621280"/>
            <a:ext cx="96774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IC / 分组分析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53100" y="3688080"/>
            <a:ext cx="2057400" cy="85344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53100" y="3688080"/>
            <a:ext cx="30480" cy="85344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20740" y="383286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策略账户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0740" y="4191000"/>
            <a:ext cx="111252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交易 / 持仓模拟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1600" y="2712720"/>
            <a:ext cx="2590800" cy="85344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91600" y="2712720"/>
            <a:ext cx="30480" cy="853440"/>
          </a:xfrm>
          <a:prstGeom prst="rect">
            <a:avLst/>
          </a:prstGeom>
          <a:solidFill>
            <a:srgbClr val="DC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9240" y="285750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研究报告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9240" y="3215640"/>
            <a:ext cx="96012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汇聚分析结果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76500" y="3139440"/>
            <a:ext cx="579120" cy="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998720" y="2545080"/>
            <a:ext cx="754380" cy="59436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98720" y="3139440"/>
            <a:ext cx="754380" cy="97536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10500" y="2545080"/>
            <a:ext cx="1181100" cy="59436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810500" y="3139440"/>
            <a:ext cx="1181100" cy="97536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9600" y="5158740"/>
            <a:ext cx="132588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统一生命周期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5562600"/>
            <a:ext cx="214884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初始化 → 数据准备 → 计算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5158740"/>
            <a:ext cx="153162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显式依赖与校验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562600"/>
            <a:ext cx="239268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命名输入 · 类型校验 · 循环检查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7200" y="5158740"/>
            <a:ext cx="132588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多种执行方式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7200" y="5562600"/>
            <a:ext cx="219456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顺序计算 · I/O 并发 · 多进程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5940" y="6454140"/>
            <a:ext cx="148590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依据：Q02 · Q03 · Q04 · Q05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04800"/>
            <a:ext cx="1158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03  /  模块化构建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874776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真实 Barra 示例：描述子复用，组合形成风格因子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716280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以 Liquidity 与 Size 为例：参数化描述子、统一预处理，以及跨因子的正交化依赖。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43100"/>
            <a:ext cx="237744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81B5FF"/>
                </a:solidFill>
                <a:latin typeface="Microsoft YaHei"/>
                <a:ea typeface="Microsoft YaHei"/>
                <a:cs typeface="Microsoft YaHei"/>
              </a:rPr>
              <a:t>规模链路：描述子 → 风格因子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91840"/>
            <a:ext cx="477012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流动性链路：共享描述子 → 参数复用 → 统一加工 → 因子组合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09800" y="2606040"/>
            <a:ext cx="419100" cy="0"/>
          </a:xfrm>
          <a:prstGeom prst="line">
            <a:avLst/>
          </a:prstGeom>
          <a:ln w="15240">
            <a:solidFill>
              <a:srgbClr val="81B5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05300" y="2606040"/>
            <a:ext cx="571500" cy="0"/>
          </a:xfrm>
          <a:prstGeom prst="line">
            <a:avLst/>
          </a:prstGeom>
          <a:ln w="15240">
            <a:solidFill>
              <a:srgbClr val="81B5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20000" y="2606040"/>
            <a:ext cx="381000" cy="0"/>
          </a:xfrm>
          <a:prstGeom prst="line">
            <a:avLst/>
          </a:prstGeom>
          <a:ln w="15240">
            <a:solidFill>
              <a:srgbClr val="81B5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2606040"/>
            <a:ext cx="1257300" cy="0"/>
          </a:xfrm>
          <a:prstGeom prst="line">
            <a:avLst/>
          </a:prstGeom>
          <a:ln w="15240">
            <a:solidFill>
              <a:srgbClr val="81B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58500" y="2606040"/>
            <a:ext cx="0" cy="1356360"/>
          </a:xfrm>
          <a:prstGeom prst="line">
            <a:avLst/>
          </a:prstGeom>
          <a:ln w="15240">
            <a:solidFill>
              <a:srgbClr val="81B5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72800" y="3192780"/>
            <a:ext cx="6400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81B5FF"/>
                </a:solidFill>
                <a:latin typeface="Microsoft YaHei"/>
                <a:ea typeface="Microsoft YaHei"/>
                <a:cs typeface="Microsoft YaHei"/>
              </a:rPr>
              <a:t>解释因子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09800" y="4038600"/>
            <a:ext cx="190500" cy="0"/>
          </a:xfrm>
          <a:prstGeom prst="line">
            <a:avLst/>
          </a:prstGeom>
          <a:ln w="15240">
            <a:solidFill>
              <a:srgbClr val="65E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00300" y="4038600"/>
            <a:ext cx="0" cy="335280"/>
          </a:xfrm>
          <a:prstGeom prst="line">
            <a:avLst/>
          </a:prstGeom>
          <a:ln w="15240">
            <a:solidFill>
              <a:srgbClr val="65E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00300" y="4373880"/>
            <a:ext cx="190500" cy="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09800" y="5029200"/>
            <a:ext cx="190500" cy="0"/>
          </a:xfrm>
          <a:prstGeom prst="line">
            <a:avLst/>
          </a:prstGeom>
          <a:ln w="15240">
            <a:solidFill>
              <a:srgbClr val="65E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00300" y="4617720"/>
            <a:ext cx="0" cy="411480"/>
          </a:xfrm>
          <a:prstGeom prst="line">
            <a:avLst/>
          </a:prstGeom>
          <a:ln w="15240">
            <a:solidFill>
              <a:srgbClr val="65E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00300" y="4617720"/>
            <a:ext cx="190500" cy="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14800" y="4472940"/>
            <a:ext cx="228600" cy="0"/>
          </a:xfrm>
          <a:prstGeom prst="line">
            <a:avLst/>
          </a:prstGeom>
          <a:ln w="15240">
            <a:solidFill>
              <a:srgbClr val="65E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43400" y="3619500"/>
            <a:ext cx="0" cy="1638300"/>
          </a:xfrm>
          <a:prstGeom prst="line">
            <a:avLst/>
          </a:prstGeom>
          <a:ln w="15240">
            <a:solidFill>
              <a:srgbClr val="65E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312920" y="4442460"/>
            <a:ext cx="60960" cy="6096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343400" y="3619500"/>
            <a:ext cx="2133600" cy="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43400" y="4343400"/>
            <a:ext cx="304800" cy="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343400" y="5257800"/>
            <a:ext cx="304800" cy="0"/>
          </a:xfrm>
          <a:prstGeom prst="line">
            <a:avLst/>
          </a:prstGeom>
          <a:ln w="15240">
            <a:solidFill>
              <a:srgbClr val="DCC4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19800" y="4343400"/>
            <a:ext cx="228600" cy="0"/>
          </a:xfrm>
          <a:prstGeom prst="line">
            <a:avLst/>
          </a:prstGeom>
          <a:ln w="15240">
            <a:solidFill>
              <a:srgbClr val="65E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248400" y="4343400"/>
            <a:ext cx="0" cy="114300"/>
          </a:xfrm>
          <a:prstGeom prst="line">
            <a:avLst/>
          </a:prstGeom>
          <a:ln w="15240">
            <a:solidFill>
              <a:srgbClr val="65E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248400" y="4457700"/>
            <a:ext cx="228600" cy="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19800" y="5257800"/>
            <a:ext cx="228600" cy="0"/>
          </a:xfrm>
          <a:prstGeom prst="line">
            <a:avLst/>
          </a:prstGeom>
          <a:ln w="15240">
            <a:solidFill>
              <a:srgbClr val="DCC4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248400" y="5257800"/>
            <a:ext cx="0" cy="38100"/>
          </a:xfrm>
          <a:prstGeom prst="line">
            <a:avLst/>
          </a:prstGeom>
          <a:ln w="15240">
            <a:solidFill>
              <a:srgbClr val="DCC4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248400" y="5295900"/>
            <a:ext cx="228600" cy="0"/>
          </a:xfrm>
          <a:prstGeom prst="line">
            <a:avLst/>
          </a:prstGeom>
          <a:ln w="15240">
            <a:solidFill>
              <a:srgbClr val="DCC4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153400" y="3619500"/>
            <a:ext cx="114300" cy="0"/>
          </a:xfrm>
          <a:prstGeom prst="line">
            <a:avLst/>
          </a:prstGeom>
          <a:ln w="15240">
            <a:solidFill>
              <a:srgbClr val="65E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67700" y="3619500"/>
            <a:ext cx="0" cy="571500"/>
          </a:xfrm>
          <a:prstGeom prst="line">
            <a:avLst/>
          </a:prstGeom>
          <a:ln w="15240">
            <a:solidFill>
              <a:srgbClr val="65E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67700" y="4191000"/>
            <a:ext cx="190500" cy="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53400" y="4457700"/>
            <a:ext cx="114300" cy="0"/>
          </a:xfrm>
          <a:prstGeom prst="line">
            <a:avLst/>
          </a:prstGeom>
          <a:ln w="15240">
            <a:solidFill>
              <a:srgbClr val="65E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67700" y="4457700"/>
            <a:ext cx="190500" cy="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153400" y="5295900"/>
            <a:ext cx="190500" cy="0"/>
          </a:xfrm>
          <a:prstGeom prst="line">
            <a:avLst/>
          </a:prstGeom>
          <a:ln w="15240">
            <a:solidFill>
              <a:srgbClr val="DCC4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343900" y="4724400"/>
            <a:ext cx="0" cy="571500"/>
          </a:xfrm>
          <a:prstGeom prst="line">
            <a:avLst/>
          </a:prstGeom>
          <a:ln w="15240">
            <a:solidFill>
              <a:srgbClr val="DCC4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43900" y="4724400"/>
            <a:ext cx="114300" cy="0"/>
          </a:xfrm>
          <a:prstGeom prst="line">
            <a:avLst/>
          </a:prstGeom>
          <a:ln w="15240">
            <a:solidFill>
              <a:srgbClr val="DCC4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829800" y="4488180"/>
            <a:ext cx="304800" cy="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858500" y="4663440"/>
            <a:ext cx="0" cy="28956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9600" y="2286000"/>
            <a:ext cx="1600200" cy="647700"/>
          </a:xfrm>
          <a:prstGeom prst="roundRect">
            <a:avLst>
              <a:gd name="adj" fmla="val 6000"/>
            </a:avLst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600" y="2286000"/>
            <a:ext cx="22860" cy="64770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1040" y="23622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总市值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040" y="2644140"/>
            <a:ext cx="73152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total_cap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28900" y="2286000"/>
            <a:ext cx="1676400" cy="647700"/>
          </a:xfrm>
          <a:prstGeom prst="roundRect">
            <a:avLst>
              <a:gd name="adj" fmla="val 6000"/>
            </a:avLst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28900" y="2286000"/>
            <a:ext cx="22860" cy="64770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20340" y="2362200"/>
            <a:ext cx="7239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LNCAP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20340" y="2644140"/>
            <a:ext cx="81534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对数总市值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76800" y="2247900"/>
            <a:ext cx="2743200" cy="72390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81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83480" y="2331720"/>
            <a:ext cx="1554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统一描述子预处理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80" y="2667000"/>
            <a:ext cx="203454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81B5FF"/>
                </a:solidFill>
                <a:latin typeface="Microsoft YaHei"/>
                <a:ea typeface="Microsoft YaHei"/>
                <a:cs typeface="Microsoft YaHei"/>
              </a:rPr>
              <a:t>标准化 → 去极值 → 标准化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01000" y="2286000"/>
            <a:ext cx="1600200" cy="647700"/>
          </a:xfrm>
          <a:prstGeom prst="roundRect">
            <a:avLst>
              <a:gd name="adj" fmla="val 6000"/>
            </a:avLst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01000" y="2286000"/>
            <a:ext cx="22860" cy="64770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92440" y="2362200"/>
            <a:ext cx="4495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Size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2644140"/>
            <a:ext cx="110490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风格层标准化后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9600" y="3733800"/>
            <a:ext cx="1600200" cy="609600"/>
          </a:xfrm>
          <a:prstGeom prst="roundRect">
            <a:avLst>
              <a:gd name="adj" fmla="val 6000"/>
            </a:avLst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9600" y="3733800"/>
            <a:ext cx="22860" cy="60960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1040" y="381000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日换手率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1040" y="4091940"/>
            <a:ext cx="68580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turnover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9600" y="4724400"/>
            <a:ext cx="1600200" cy="609600"/>
          </a:xfrm>
          <a:prstGeom prst="roundRect">
            <a:avLst>
              <a:gd name="adj" fmla="val 6000"/>
            </a:avLst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" y="4724400"/>
            <a:ext cx="22860" cy="60960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1040" y="480060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有效交易标志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1040" y="5082540"/>
            <a:ext cx="115824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上市 × 交易状态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90800" y="4114800"/>
            <a:ext cx="1524000" cy="723900"/>
          </a:xfrm>
          <a:prstGeom prst="roundRect">
            <a:avLst>
              <a:gd name="adj" fmla="val 6000"/>
            </a:avLst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590800" y="4114800"/>
            <a:ext cx="22860" cy="72390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82240" y="4191000"/>
            <a:ext cx="65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STOM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82240" y="4472940"/>
            <a:ext cx="11734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21 日换手率对数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48200" y="4038600"/>
            <a:ext cx="1371600" cy="609600"/>
          </a:xfrm>
          <a:prstGeom prst="roundRect">
            <a:avLst>
              <a:gd name="adj" fmla="val 6000"/>
            </a:avLst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48200" y="4038600"/>
            <a:ext cx="22860" cy="60960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39640" y="4114800"/>
            <a:ext cx="6171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STOQ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39640" y="4396740"/>
            <a:ext cx="91440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3 个月 · T=3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648200" y="4953000"/>
            <a:ext cx="1371600" cy="609600"/>
          </a:xfrm>
          <a:prstGeom prst="roundRect">
            <a:avLst>
              <a:gd name="adj" fmla="val 6000"/>
            </a:avLst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48200" y="4953000"/>
            <a:ext cx="22860" cy="609600"/>
          </a:xfrm>
          <a:prstGeom prst="rect">
            <a:avLst/>
          </a:prstGeom>
          <a:solidFill>
            <a:srgbClr val="DC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39640" y="5029200"/>
            <a:ext cx="6018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STOA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39640" y="5311140"/>
            <a:ext cx="108204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12 个月 · T=12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48200" y="3680460"/>
            <a:ext cx="11962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直接复用 STOM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8200" y="4724400"/>
            <a:ext cx="139446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DCC49A"/>
                </a:solidFill>
                <a:latin typeface="Microsoft YaHei"/>
                <a:ea typeface="Microsoft YaHei"/>
                <a:cs typeface="Microsoft YaHei"/>
              </a:rPr>
              <a:t>同一算子，不同参数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7000" y="3055620"/>
            <a:ext cx="18211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同一处理链 × 三个描述子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77000" y="3314700"/>
            <a:ext cx="1676400" cy="60960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65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76060" y="3390900"/>
            <a:ext cx="137160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标准化 → 去极值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76060" y="3665220"/>
            <a:ext cx="13943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→ 标准化 · STOM*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77000" y="4152900"/>
            <a:ext cx="1676400" cy="60960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65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76060" y="4229100"/>
            <a:ext cx="137160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标准化 → 去极值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76060" y="4503420"/>
            <a:ext cx="13638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→ 标准化 · STOQ*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77000" y="4991100"/>
            <a:ext cx="1676400" cy="60960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DCC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76060" y="5067300"/>
            <a:ext cx="137160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标准化 → 去极值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76060" y="5341620"/>
            <a:ext cx="1348501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CC49A"/>
                </a:solidFill>
                <a:latin typeface="Microsoft YaHei"/>
                <a:ea typeface="Microsoft YaHei"/>
                <a:cs typeface="Microsoft YaHei"/>
              </a:rPr>
              <a:t>→ 标准化 · STOA*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458200" y="3924300"/>
            <a:ext cx="1371600" cy="1127760"/>
          </a:xfrm>
          <a:prstGeom prst="roundRect">
            <a:avLst>
              <a:gd name="adj" fmla="val 6000"/>
            </a:avLst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402336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加权合成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49640" y="4305300"/>
            <a:ext cx="1013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STOM* × 0.35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49640" y="4495800"/>
            <a:ext cx="9904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STOQ* × 0.35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49640" y="4686300"/>
            <a:ext cx="975121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STOA* × 0.30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49640" y="4861560"/>
            <a:ext cx="6781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→ 标准化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134600" y="3962400"/>
            <a:ext cx="1447800" cy="701040"/>
          </a:xfrm>
          <a:prstGeom prst="roundRect">
            <a:avLst>
              <a:gd name="adj" fmla="val 6000"/>
            </a:avLst>
          </a:prstGeom>
          <a:solidFill>
            <a:srgbClr val="162941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134600" y="3962400"/>
            <a:ext cx="22860" cy="70104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26040" y="40386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正交化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226040" y="4320540"/>
            <a:ext cx="103632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剔除 Size 暴露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134600" y="4953000"/>
            <a:ext cx="1447800" cy="853440"/>
          </a:xfrm>
          <a:prstGeom prst="roundRect">
            <a:avLst>
              <a:gd name="adj" fmla="val 6000"/>
            </a:avLst>
          </a:prstGeom>
          <a:solidFill>
            <a:srgbClr val="162941"/>
          </a:solidFill>
          <a:ln w="7620">
            <a:solidFill>
              <a:srgbClr val="65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26040" y="5021580"/>
            <a:ext cx="853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1F5FA"/>
                </a:solidFill>
                <a:latin typeface="Segoe UI"/>
                <a:ea typeface="Microsoft YaHei"/>
                <a:cs typeface="Microsoft YaHei"/>
              </a:rPr>
              <a:t>Liquidity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26040" y="5326380"/>
            <a:ext cx="119634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再标准化 → 补缺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26040" y="5536311"/>
            <a:ext cx="100584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→ 最终标准化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4840" y="5730240"/>
            <a:ext cx="580644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辅助口径：市值与 ESTU 用于标准化；行业、市值与上市状态用于填补缺失。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4840" y="6027420"/>
            <a:ext cx="53263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真实代码节选；* 表示预处理后的描述子。辅助输入连线与 Size 最终输出分支已折叠。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35540" y="6454140"/>
            <a:ext cx="87630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依据：R01 · R02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4800"/>
            <a:ext cx="10210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03  /  因子构建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669798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四类运算，覆盖点、时间、截面与面板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5996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标准算子可以嵌套组合，自定义逻辑通过明确的输入与参数声明接入。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057400"/>
            <a:ext cx="5372100" cy="16764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720" y="2225040"/>
            <a:ext cx="1066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单点运算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720" y="2697480"/>
            <a:ext cx="191262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同一时点 · 同一证券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720" y="3177540"/>
            <a:ext cx="1996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价格比值 / 条件表达式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0300" y="2057400"/>
            <a:ext cx="5372100" cy="16764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8420" y="2225040"/>
            <a:ext cx="1066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81B5FF"/>
                </a:solidFill>
                <a:latin typeface="Microsoft YaHei"/>
                <a:ea typeface="Microsoft YaHei"/>
                <a:cs typeface="Microsoft YaHei"/>
              </a:rPr>
              <a:t>时序运算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420" y="2697480"/>
            <a:ext cx="191262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历史区间 · 同一证券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8420" y="3177540"/>
            <a:ext cx="1805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滚动均值 / 历史波动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3947160"/>
            <a:ext cx="5372100" cy="16764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720" y="4114800"/>
            <a:ext cx="1066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DCC49A"/>
                </a:solidFill>
                <a:latin typeface="Microsoft YaHei"/>
                <a:ea typeface="Microsoft YaHei"/>
                <a:cs typeface="Microsoft YaHei"/>
              </a:rPr>
              <a:t>截面运算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0" y="4587240"/>
            <a:ext cx="191262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同一时点 · 全体证券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" y="5067300"/>
            <a:ext cx="1234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排序 / 标准化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0300" y="3947160"/>
            <a:ext cx="5372100" cy="16764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8420" y="4114800"/>
            <a:ext cx="1066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面板运算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8420" y="4587240"/>
            <a:ext cx="191262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历史区间 · 全体证券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420" y="5067300"/>
            <a:ext cx="1805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时序与截面联合计算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6454140"/>
            <a:ext cx="117348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依据：Q06 · Q07 · E04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4800"/>
            <a:ext cx="10210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04  /  研究验证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592074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因子好不好，需要一组互补的检验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5425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从预测能力、组合表现、稳定性与归因四个角度形成研究证据。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103120"/>
            <a:ext cx="3505200" cy="16230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2293620"/>
            <a:ext cx="27432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682240"/>
            <a:ext cx="1051560" cy="354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IC / 衰减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162300"/>
            <a:ext cx="1920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因子是否有预测信息？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3505200" cy="16230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3900" y="2293620"/>
            <a:ext cx="27432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3900" y="2682240"/>
            <a:ext cx="1272540" cy="354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分位数组合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3900" y="316230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排序能否转化为组合差异？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7200" y="2103120"/>
            <a:ext cx="3505200" cy="16230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7700" y="2293620"/>
            <a:ext cx="27432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7700" y="2682240"/>
            <a:ext cx="1272540" cy="354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截面相关性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7700" y="3162300"/>
            <a:ext cx="2103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是否重复已有因子信息？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3977640"/>
            <a:ext cx="3505200" cy="16230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" y="4168140"/>
            <a:ext cx="27432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4556760"/>
            <a:ext cx="1036320" cy="354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因子换手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50368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信号的稳定性与实现成本？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977640"/>
            <a:ext cx="3505200" cy="16230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3900" y="4168140"/>
            <a:ext cx="27432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3900" y="4556760"/>
            <a:ext cx="1904880" cy="354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Fama–MacBeth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3900" y="50368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横截面收益解释是否稳定？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77200" y="3977640"/>
            <a:ext cx="3505200" cy="16230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7700" y="4168140"/>
            <a:ext cx="27432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7700" y="4556760"/>
            <a:ext cx="1036320" cy="354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绩效归因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7700" y="5036820"/>
            <a:ext cx="1920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收益由哪些来源贡献？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3080" y="6454140"/>
            <a:ext cx="150876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依据：Q08 · Q09 · Q15 · W01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4800"/>
            <a:ext cx="10210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04  /  策略回测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592074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从信号到账户，再到可解释的绩效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502158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简单策略可直接组合因子，复杂策略可通过 Python 扩展。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072640"/>
            <a:ext cx="10972800" cy="104394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240280"/>
            <a:ext cx="128016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两种建模方式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636520"/>
            <a:ext cx="221742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因子组合 → 交易信号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680" y="2636520"/>
            <a:ext cx="281178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Python 自定义 → 策略逻辑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67400" y="2362200"/>
            <a:ext cx="0" cy="54864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9600" y="3756660"/>
            <a:ext cx="2567940" cy="102108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3756660"/>
            <a:ext cx="30480" cy="102108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01440"/>
            <a:ext cx="1158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信号与价格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9580"/>
            <a:ext cx="14020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目标权重 / 买卖数量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77540" y="4267200"/>
            <a:ext cx="21336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21380" y="3756660"/>
            <a:ext cx="2567940" cy="102108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1380" y="3756660"/>
            <a:ext cx="30480" cy="102108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9020" y="390144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账户模拟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9020" y="4259580"/>
            <a:ext cx="126492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现金 / 持仓 / 交易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89320" y="4267200"/>
            <a:ext cx="21336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3160" y="3756660"/>
            <a:ext cx="2567940" cy="102108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160" y="3756660"/>
            <a:ext cx="30480" cy="102108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0144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绩效统计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9580"/>
            <a:ext cx="126492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收益 / 波动 / 回撤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01100" y="4267200"/>
            <a:ext cx="21336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44940" y="3756660"/>
            <a:ext cx="2567940" cy="102108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4940" y="3756660"/>
            <a:ext cx="30480" cy="102108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2580" y="390144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账户报告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2580" y="4259580"/>
            <a:ext cx="12496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统计表与图形解释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900" y="5394960"/>
            <a:ext cx="59512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交易假设显式输入：成交价格 · 买卖费率 · 交易限制 · 金额限制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900" y="5783580"/>
            <a:ext cx="329184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研究与模拟场景；本页不涉及实盘委托链路。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6454140"/>
            <a:ext cx="121920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依据：Q09 · Q10 · W01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04800"/>
            <a:ext cx="1158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04  /  风险与组合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669798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把研究观点，转化为受约束的组合决策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5615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风险模型刻画暴露，组合优化在收益、风险与交易成本之间求解。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087880"/>
            <a:ext cx="5295900" cy="33985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2301240"/>
            <a:ext cx="19050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风险建模与分析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" y="2857500"/>
            <a:ext cx="3215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因子暴露 · 因子协方差 · 特异风险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" y="3482340"/>
            <a:ext cx="189738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Barra 风格风险模型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" y="3832098"/>
            <a:ext cx="256032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风险库读写与风险数据组织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" y="4181855"/>
            <a:ext cx="245352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Web 矩阵展示与风险分解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4100" y="2087880"/>
            <a:ext cx="5448300" cy="33985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7940" y="2301240"/>
            <a:ext cx="19050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81B5FF"/>
                </a:solidFill>
                <a:latin typeface="Microsoft YaHei"/>
                <a:ea typeface="Microsoft YaHei"/>
                <a:cs typeface="Microsoft YaHei"/>
              </a:rPr>
              <a:t>组合构建与优化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7940" y="2857500"/>
            <a:ext cx="31775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目标 + 约束 → 求解 → 组合权重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3482340"/>
            <a:ext cx="311658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均值方差 · 风险预算 · 最大分散化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3832098"/>
            <a:ext cx="32004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预算 / 权重 / 换手 / 持仓数等约束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7940" y="4181855"/>
            <a:ext cx="22479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CVXPY 建模与求解信息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775960"/>
            <a:ext cx="570738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核心还支持因子暴露、波动率等约束；Web 接入范围以具体服务实现为准。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8680" y="6454140"/>
            <a:ext cx="242316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依据：Q11 · Q12 · Q13 · Q14 · W07 · W08 · W21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04800"/>
            <a:ext cx="1158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05  /  研究工程化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797814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QSExt 把研究代码组织成可管理的定义与资产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5425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统一定义入口承接研究逻辑，注册中心记录研究对象及其依赖。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118360"/>
            <a:ext cx="5295900" cy="26898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118360"/>
            <a:ext cx="30480" cy="268986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40" y="2293620"/>
            <a:ext cx="11353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DEFMODULE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340" y="2697480"/>
            <a:ext cx="134874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定义与运行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40" y="3208020"/>
            <a:ext cx="276606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元信息、模型参数与依赖声明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40" y="3506343"/>
            <a:ext cx="257556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统一因子 / 策略 / 混合脚本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40" y="3804666"/>
            <a:ext cx="214884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运行配置与数据源管理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4100" y="2118360"/>
            <a:ext cx="5448300" cy="26898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34100" y="2118360"/>
            <a:ext cx="30480" cy="268986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9840" y="229362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81B5FF"/>
                </a:solidFill>
                <a:latin typeface="Segoe UI"/>
                <a:ea typeface="Microsoft YaHei"/>
                <a:cs typeface="Microsoft YaHei"/>
              </a:rPr>
              <a:t>QSREGISTRY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840" y="2697480"/>
            <a:ext cx="134874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登记与复用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840" y="3208020"/>
            <a:ext cx="235458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保存研究对象与依赖关系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9840" y="3506343"/>
            <a:ext cx="276606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检索、血缘、影响分析与重建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9840" y="3804666"/>
            <a:ext cx="23241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通过 MCP 提供工具访问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05500" y="3444240"/>
            <a:ext cx="2286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0560" y="533400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研究脚本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62200" y="5471160"/>
            <a:ext cx="609600" cy="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15640" y="533400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统一定义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53000" y="5471160"/>
            <a:ext cx="609600" cy="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06440" y="5334000"/>
            <a:ext cx="1158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计算与结果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96200" y="5471160"/>
            <a:ext cx="609600" cy="0"/>
          </a:xfrm>
          <a:prstGeom prst="line">
            <a:avLst/>
          </a:prstGeom>
          <a:ln w="15240">
            <a:solidFill>
              <a:srgbClr val="65E0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49640" y="5334000"/>
            <a:ext cx="1371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研究资产登记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0680" y="6454140"/>
            <a:ext cx="166116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依据：E04 · E05 · E06 · E07 · E13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04800"/>
            <a:ext cx="1158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06  /  统一工作台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672072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QSWeb 让研究链路在一张画布中可见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5425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来源、因子加工、策略与回测输出，可以在同一计算图中组织。</a:t>
            </a:r>
          </a:p>
        </p:txBody>
      </p:sp>
      <p:pic>
        <p:nvPicPr>
          <p:cNvPr id="7" name="Picture 6" descr="qsweb_graph.png"/>
          <p:cNvPicPr>
            <a:picLocks noChangeAspect="1"/>
          </p:cNvPicPr>
          <p:nvPr/>
        </p:nvPicPr>
        <p:blipFill>
          <a:blip r:embed="rId2"/>
          <a:srcRect b="17000"/>
          <a:stretch>
            <a:fillRect/>
          </a:stretch>
        </p:blipFill>
        <p:spPr>
          <a:xfrm>
            <a:off x="609600" y="2026920"/>
            <a:ext cx="8991600" cy="3855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6000" y="2209800"/>
            <a:ext cx="9753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组织逻辑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0" y="2613660"/>
            <a:ext cx="131826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来源与组件连线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3307080"/>
            <a:ext cx="9753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保存定义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0" y="3710940"/>
            <a:ext cx="131826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参数与修订留存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0" y="4404360"/>
            <a:ext cx="9753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观察执行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0" y="4808220"/>
            <a:ext cx="149352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诊断、进度与结果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" y="5981700"/>
            <a:ext cx="371094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真实前端截图；演示组件与接口夹具，未连接业务数据。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0" y="6454140"/>
            <a:ext cx="157734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依据：W01 · W15 · W16 · W17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4800"/>
            <a:ext cx="10210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06  /  执行链路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592074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从编辑到运行，关键边界保持清晰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5234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保存图文档、静态校验与实际执行，分别由明确的步骤承接。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506980"/>
            <a:ext cx="2026920" cy="121920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506980"/>
            <a:ext cx="30480" cy="121920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731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图文档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09900"/>
            <a:ext cx="126492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参数 / 绑定 / 输出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6520" y="3124200"/>
            <a:ext cx="1905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49880" y="2506980"/>
            <a:ext cx="2026920" cy="121920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49880" y="2506980"/>
            <a:ext cx="30480" cy="121920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65176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静态校验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009900"/>
            <a:ext cx="126492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类型 / 必填 / 依赖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76800" y="3124200"/>
            <a:ext cx="1905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90160" y="2506980"/>
            <a:ext cx="2026920" cy="121920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0160" y="2506980"/>
            <a:ext cx="30480" cy="121920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265176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目标编译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009900"/>
            <a:ext cx="139434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构造 Node / Factor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17080" y="3124200"/>
            <a:ext cx="1905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30440" y="2506980"/>
            <a:ext cx="2026920" cy="121920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30440" y="2506980"/>
            <a:ext cx="30480" cy="121920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265176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引擎执行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009900"/>
            <a:ext cx="110490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数据准备与计算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57360" y="3124200"/>
            <a:ext cx="19050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70720" y="2506980"/>
            <a:ext cx="2026920" cy="121920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70720" y="2506980"/>
            <a:ext cx="30480" cy="121920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265176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结果展示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30099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结果树 / HTML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4267200"/>
            <a:ext cx="5379720" cy="12420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340" y="4457700"/>
            <a:ext cx="20802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提交时固定执行依据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340" y="4899660"/>
            <a:ext cx="35966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图修订 · 组件定义 · 授权资源 · 日期与截面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267200"/>
            <a:ext cx="5364480" cy="12420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3660" y="4457700"/>
            <a:ext cx="20802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81B5FF"/>
                </a:solidFill>
                <a:latin typeface="Microsoft YaHei"/>
                <a:ea typeface="Microsoft YaHei"/>
                <a:cs typeface="Microsoft YaHei"/>
              </a:rPr>
              <a:t>运行中提供可见反馈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3660" y="4899660"/>
            <a:ext cx="35966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异步任务 · 节点事件 · 进度推送 · 结果记录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1100" y="6454140"/>
            <a:ext cx="211074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依据：E01 · E02 · W03 · W04 · W05 · W06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04800"/>
            <a:ext cx="1158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07  /  报告与资产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708660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报告承接计算结果，也保留研究的上下文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4472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场景、布局与渲染分离，让分析输出可以持续复用。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133600"/>
            <a:ext cx="4648200" cy="90678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133600"/>
            <a:ext cx="30480" cy="90678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7838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输入结果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36520"/>
            <a:ext cx="14020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因子分析 / 策略回测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3238500"/>
            <a:ext cx="4648200" cy="90678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238500"/>
            <a:ext cx="30480" cy="90678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报告场景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1420"/>
            <a:ext cx="168402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单 / 多因子 · 单 / 多策略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4343400"/>
            <a:ext cx="4648200" cy="906780"/>
          </a:xfrm>
          <a:prstGeom prst="roundRect">
            <a:avLst>
              <a:gd name="adj" fmla="val 6000"/>
            </a:avLst>
          </a:prstGeom>
          <a:solidFill>
            <a:srgbClr val="111F34"/>
          </a:solidFill>
          <a:ln w="7620">
            <a:solidFill>
              <a:srgbClr val="29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343400"/>
            <a:ext cx="30480" cy="90678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88180"/>
            <a:ext cx="944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呈现方式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15544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图表 / 表格 / 统计摘要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55920" y="3718560"/>
            <a:ext cx="670560" cy="0"/>
          </a:xfrm>
          <a:prstGeom prst="line">
            <a:avLst/>
          </a:prstGeom>
          <a:ln w="22859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00800" y="2118360"/>
            <a:ext cx="5181600" cy="33147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362200"/>
            <a:ext cx="2118360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结构化研究报告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75120" y="2903220"/>
            <a:ext cx="461772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75120" y="3147060"/>
            <a:ext cx="16383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研究对象与参数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627120"/>
            <a:ext cx="16383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分析结果与图表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107180"/>
            <a:ext cx="230124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报告文件与关联元信息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770120"/>
            <a:ext cx="178308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HTML / Markdown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5783580"/>
            <a:ext cx="53949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输出既服务于阅读，也能关联回研究对象与计算依据。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1660" y="6454140"/>
            <a:ext cx="144018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依据：E07 · E08 · E09 · W09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4800"/>
            <a:ext cx="10210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07  /  研究扩展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645414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AI 与因子挖掘，扩展研究的探索方式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5044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将辅助开发、候选生成与评估，接回已有的研究基础设施。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164080"/>
            <a:ext cx="3505200" cy="27660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164080"/>
            <a:ext cx="30480" cy="2766060"/>
          </a:xfrm>
          <a:prstGeom prst="rect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40" y="2339340"/>
            <a:ext cx="1402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AI WORKBENCH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340" y="2743200"/>
            <a:ext cx="160020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辅助研究开发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40" y="3253740"/>
            <a:ext cx="214884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多轮对话与上下文管理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40" y="3552063"/>
            <a:ext cx="235458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代码辅助与研究工具调用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40" y="3850386"/>
            <a:ext cx="23241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结合 MCP 查询研究资产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64080"/>
            <a:ext cx="3505200" cy="27660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164080"/>
            <a:ext cx="30480" cy="2766060"/>
          </a:xfrm>
          <a:prstGeom prst="rect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9140" y="2339340"/>
            <a:ext cx="97512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81B5FF"/>
                </a:solidFill>
                <a:latin typeface="Segoe UI"/>
                <a:ea typeface="Microsoft YaHei"/>
                <a:cs typeface="Microsoft YaHei"/>
              </a:rPr>
              <a:t>GPFACTOR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9140" y="2743200"/>
            <a:ext cx="160020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遗传规划搜索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9140" y="3253740"/>
            <a:ext cx="19431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算子与终端因子组合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9140" y="3552063"/>
            <a:ext cx="153162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候选表达式进化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9140" y="3850386"/>
            <a:ext cx="19431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使用适应度函数评价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7200" y="2164080"/>
            <a:ext cx="3505200" cy="27660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77200" y="2164080"/>
            <a:ext cx="30480" cy="2766060"/>
          </a:xfrm>
          <a:prstGeom prst="rect">
            <a:avLst/>
          </a:prstGeom>
          <a:solidFill>
            <a:srgbClr val="DC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2940" y="2339340"/>
            <a:ext cx="108942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CC49A"/>
                </a:solidFill>
                <a:latin typeface="Segoe UI"/>
                <a:ea typeface="Microsoft YaHei"/>
                <a:cs typeface="Microsoft YaHei"/>
              </a:rPr>
              <a:t>LLMFACTOR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2940" y="2743200"/>
            <a:ext cx="160020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假设驱动探索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2940" y="3253740"/>
            <a:ext cx="132588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生成研究假设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2940" y="3552063"/>
            <a:ext cx="132588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开发候选因子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2940" y="3850386"/>
            <a:ext cx="19431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多轮评价与探索记录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" y="5417820"/>
            <a:ext cx="596646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共同基础：数据上下文 · 因子计算 · 回测评估 · 研究结果留存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40" y="5875020"/>
            <a:ext cx="457200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依赖相应模型服务与运行配置；候选有效性仍需独立研究验证。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0120" y="6454140"/>
            <a:ext cx="23317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依据：E10 · E11 · E12 · E13 · W10 · W11 · W18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04800"/>
            <a:ext cx="1158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08  /  部署与团队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747522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面向团队自部署，研究环境与服务目录分离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513576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Web 服务、计算框架、业务数据与用户工作区按职责组织。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171700"/>
            <a:ext cx="3505200" cy="26670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340" y="2369820"/>
            <a:ext cx="134874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81B5FF"/>
                </a:solidFill>
                <a:latin typeface="Microsoft YaHei"/>
                <a:ea typeface="Microsoft YaHei"/>
                <a:cs typeface="Microsoft YaHei"/>
              </a:rPr>
              <a:t>访问与交互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070860"/>
            <a:ext cx="60960" cy="60960"/>
          </a:xfrm>
          <a:prstGeom prst="ellipse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964180"/>
            <a:ext cx="151626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Web 研究工作台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604260"/>
            <a:ext cx="60960" cy="60960"/>
          </a:xfrm>
          <a:prstGeom prst="ellipse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" y="3497580"/>
            <a:ext cx="182880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AI / Notebook 入口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37660"/>
            <a:ext cx="60960" cy="60960"/>
          </a:xfrm>
          <a:prstGeom prst="ellipse">
            <a:avLst/>
          </a:prstGeom>
          <a:solidFill>
            <a:srgbClr val="81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600" y="4030980"/>
            <a:ext cx="18517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JWT 认证与用户管理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3482340"/>
            <a:ext cx="19812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343400" y="2171700"/>
            <a:ext cx="3505200" cy="26670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9140" y="2369820"/>
            <a:ext cx="134874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计算与服务</a:t>
            </a:r>
          </a:p>
        </p:txBody>
      </p:sp>
      <p:sp>
        <p:nvSpPr>
          <p:cNvPr id="18" name="Oval 17"/>
          <p:cNvSpPr/>
          <p:nvPr/>
        </p:nvSpPr>
        <p:spPr>
          <a:xfrm>
            <a:off x="4556760" y="3070860"/>
            <a:ext cx="60960" cy="6096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4400" y="2964180"/>
            <a:ext cx="157722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FastAPI 业务服务</a:t>
            </a:r>
          </a:p>
        </p:txBody>
      </p:sp>
      <p:sp>
        <p:nvSpPr>
          <p:cNvPr id="20" name="Oval 19"/>
          <p:cNvSpPr/>
          <p:nvPr/>
        </p:nvSpPr>
        <p:spPr>
          <a:xfrm>
            <a:off x="4556760" y="3604260"/>
            <a:ext cx="60960" cy="6096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4400" y="3497580"/>
            <a:ext cx="195822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QuantStudio / QSExt</a:t>
            </a:r>
          </a:p>
        </p:txBody>
      </p:sp>
      <p:sp>
        <p:nvSpPr>
          <p:cNvPr id="22" name="Oval 21"/>
          <p:cNvSpPr/>
          <p:nvPr/>
        </p:nvSpPr>
        <p:spPr>
          <a:xfrm>
            <a:off x="4556760" y="4137660"/>
            <a:ext cx="60960" cy="60960"/>
          </a:xfrm>
          <a:prstGeom prst="ellipse">
            <a:avLst/>
          </a:prstGeom>
          <a:solidFill>
            <a:srgbClr val="65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4400" y="4030980"/>
            <a:ext cx="1805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任务进度与结果接口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48600" y="3482340"/>
            <a:ext cx="198120" cy="0"/>
          </a:xfrm>
          <a:prstGeom prst="line">
            <a:avLst/>
          </a:prstGeom>
          <a:ln w="15240">
            <a:solidFill>
              <a:srgbClr val="5971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077200" y="2171700"/>
            <a:ext cx="3505200" cy="26670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2940" y="2369820"/>
            <a:ext cx="160020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DCC49A"/>
                </a:solidFill>
                <a:latin typeface="Microsoft YaHei"/>
                <a:ea typeface="Microsoft YaHei"/>
                <a:cs typeface="Microsoft YaHei"/>
              </a:rPr>
              <a:t>数据与工作区</a:t>
            </a:r>
          </a:p>
        </p:txBody>
      </p:sp>
      <p:sp>
        <p:nvSpPr>
          <p:cNvPr id="27" name="Oval 26"/>
          <p:cNvSpPr/>
          <p:nvPr/>
        </p:nvSpPr>
        <p:spPr>
          <a:xfrm>
            <a:off x="8290560" y="3070860"/>
            <a:ext cx="60960" cy="60960"/>
          </a:xfrm>
          <a:prstGeom prst="ellipse">
            <a:avLst/>
          </a:prstGeom>
          <a:solidFill>
            <a:srgbClr val="DC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964180"/>
            <a:ext cx="1424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因子库 / 风险库</a:t>
            </a:r>
          </a:p>
        </p:txBody>
      </p:sp>
      <p:sp>
        <p:nvSpPr>
          <p:cNvPr id="29" name="Oval 28"/>
          <p:cNvSpPr/>
          <p:nvPr/>
        </p:nvSpPr>
        <p:spPr>
          <a:xfrm>
            <a:off x="8290560" y="3604260"/>
            <a:ext cx="60960" cy="60960"/>
          </a:xfrm>
          <a:prstGeom prst="ellipse">
            <a:avLst/>
          </a:prstGeom>
          <a:solidFill>
            <a:srgbClr val="DC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3497580"/>
            <a:ext cx="1996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注册元信息 / 应用数据</a:t>
            </a:r>
          </a:p>
        </p:txBody>
      </p:sp>
      <p:sp>
        <p:nvSpPr>
          <p:cNvPr id="31" name="Oval 30"/>
          <p:cNvSpPr/>
          <p:nvPr/>
        </p:nvSpPr>
        <p:spPr>
          <a:xfrm>
            <a:off x="8290560" y="4137660"/>
            <a:ext cx="60960" cy="60960"/>
          </a:xfrm>
          <a:prstGeom prst="ellipse">
            <a:avLst/>
          </a:prstGeom>
          <a:solidFill>
            <a:srgbClr val="DC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4030980"/>
            <a:ext cx="19964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配置 / 组件 / 用户文件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227320"/>
            <a:ext cx="10972800" cy="632460"/>
          </a:xfrm>
          <a:prstGeom prst="rect">
            <a:avLst/>
          </a:prstGeom>
          <a:solidFill>
            <a:srgbClr val="16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379720"/>
            <a:ext cx="75436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交付形态：本地服务或 Docker Compose；实际能力取决于连接、依赖与组件配置。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2080" y="6454140"/>
            <a:ext cx="188976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依据：W12 · W13 · W14 · W19 · W20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304800"/>
            <a:ext cx="74676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09  /  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747522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让研究成果持续积累，让团队能力持续生长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471666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QuantStudio 系统连接数据、计算、验证与知识沉淀。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0" y="6454140"/>
            <a:ext cx="146304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依据：Q02 · E01 · E07 · W01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920" y="304800"/>
            <a:ext cx="126492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附录 A  /  能力边界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630936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区分核心能力、界面接入与部署前提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37109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能力判断以当前工作区的实际代码为依据。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042160"/>
            <a:ext cx="1981200" cy="472440"/>
          </a:xfrm>
          <a:prstGeom prst="rect">
            <a:avLst/>
          </a:prstGeom>
          <a:solidFill>
            <a:srgbClr val="16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760" y="21564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主题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0800" y="2042160"/>
            <a:ext cx="4419600" cy="472440"/>
          </a:xfrm>
          <a:prstGeom prst="rect">
            <a:avLst/>
          </a:prstGeom>
          <a:solidFill>
            <a:srgbClr val="16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7960" y="2156460"/>
            <a:ext cx="1554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代码可确认的能力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0400" y="2042160"/>
            <a:ext cx="4572000" cy="472440"/>
          </a:xfrm>
          <a:prstGeom prst="rect">
            <a:avLst/>
          </a:prstGeom>
          <a:solidFill>
            <a:srgbClr val="16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47560" y="2156460"/>
            <a:ext cx="1371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65E0C4"/>
                </a:solidFill>
                <a:latin typeface="Microsoft YaHei"/>
                <a:ea typeface="Microsoft YaHei"/>
                <a:cs typeface="Microsoft YaHei"/>
              </a:rPr>
              <a:t>需要明确的边界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514600"/>
            <a:ext cx="1981200" cy="5410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760" y="2667000"/>
            <a:ext cx="92964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风险与优化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0800" y="2514600"/>
            <a:ext cx="4419600" cy="5410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7960" y="2667000"/>
            <a:ext cx="302514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核心风险模型；Web 接入三类优化目标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10400" y="2514600"/>
            <a:ext cx="4572000" cy="5410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7560" y="2667000"/>
            <a:ext cx="235458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Web 风险页面侧重浏览与分析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3055620"/>
            <a:ext cx="1981200" cy="54102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760" y="3208020"/>
            <a:ext cx="76200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图与运行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90800" y="3055620"/>
            <a:ext cx="4419600" cy="54102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27960" y="3208020"/>
            <a:ext cx="243840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保存修订、目标编译与运行记录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10400" y="3055620"/>
            <a:ext cx="4572000" cy="54102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7560" y="3208020"/>
            <a:ext cx="260604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完整复现需数据、组件及环境版本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596640"/>
            <a:ext cx="1981200" cy="5410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760" y="3749040"/>
            <a:ext cx="92964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并行与任务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0800" y="3596640"/>
            <a:ext cx="4419600" cy="5410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27960" y="3749040"/>
            <a:ext cx="249936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多进程计算 + 内存异步任务管理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10400" y="3596640"/>
            <a:ext cx="4572000" cy="5410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47560" y="3749040"/>
            <a:ext cx="294132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未证明分布式调度、重启恢复与高可用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4137660"/>
            <a:ext cx="1981200" cy="54102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760" y="4290060"/>
            <a:ext cx="76200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研究资产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90800" y="4137660"/>
            <a:ext cx="4419600" cy="54102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27960" y="4290060"/>
            <a:ext cx="213360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Neo4j 元信息、依赖与检索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10400" y="4137660"/>
            <a:ext cx="4572000" cy="54102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47560" y="4290060"/>
            <a:ext cx="277368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业务数据和结果文件需独立存储管理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4678680"/>
            <a:ext cx="1981200" cy="5410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6760" y="4831080"/>
            <a:ext cx="97536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AI 与数据源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90800" y="4678680"/>
            <a:ext cx="4419600" cy="5410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27960" y="4831080"/>
            <a:ext cx="243840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有助手、挖掘和多种适配器实现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10400" y="4678680"/>
            <a:ext cx="4572000" cy="54102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47560" y="4831080"/>
            <a:ext cx="277368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依赖模型服务、数据授权与运行配置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5219700"/>
            <a:ext cx="1981200" cy="54102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6760" y="5372100"/>
            <a:ext cx="92964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策略与交易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90800" y="5219700"/>
            <a:ext cx="4419600" cy="54102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27960" y="5372100"/>
            <a:ext cx="243840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历史账户模拟、绩效统计与报告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10400" y="5219700"/>
            <a:ext cx="4572000" cy="54102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47560" y="5372100"/>
            <a:ext cx="260604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未在本次考察中验证实盘委托链路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6454140"/>
            <a:ext cx="30937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依据：Q12 · Q14 · W01 · W06 · W07 · W08 · W10 · W14 · W21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04800"/>
            <a:ext cx="124968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附录 B  /  资料依据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4860"/>
            <a:ext cx="5532120" cy="582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以源码和正式文档支撑系统介绍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409700"/>
            <a:ext cx="4480321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逐页讲稿与完整来源路径已写入 PowerPoint 备注。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095500"/>
            <a:ext cx="10972800" cy="9753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720" y="2263140"/>
            <a:ext cx="15010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DCC49A"/>
                </a:solidFill>
                <a:latin typeface="Segoe UI"/>
                <a:ea typeface="Microsoft YaHei"/>
                <a:cs typeface="Microsoft YaHei"/>
              </a:rPr>
              <a:t>QuantStudio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2300" y="2247900"/>
            <a:ext cx="2712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计算图 · 因子 · 回测 · 风险 · 组合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2590800"/>
            <a:ext cx="18135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docs/Core/计算图框架.ipynb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2300" y="2759202"/>
            <a:ext cx="17983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QuantStudio/Core/Node.py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2300" y="2927604"/>
            <a:ext cx="27964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QuantStudio/BackTest/SectionFactor/api.py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223260"/>
            <a:ext cx="10972800" cy="9753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720" y="3390900"/>
            <a:ext cx="746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65E0C4"/>
                </a:solidFill>
                <a:latin typeface="Segoe UI"/>
                <a:ea typeface="Microsoft YaHei"/>
                <a:cs typeface="Microsoft YaHei"/>
              </a:rPr>
              <a:t>QSExt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2300" y="3375660"/>
            <a:ext cx="307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图协议 · 定义框架 · 注册 · 报告 · 挖掘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2300" y="3718560"/>
            <a:ext cx="16459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docs/Graph/README.md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2300" y="3886962"/>
            <a:ext cx="21488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docs/DefModule/DefModule.md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2300" y="4055364"/>
            <a:ext cx="21718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QSExt/QSRegistry/QSGraphDB.py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4351020"/>
            <a:ext cx="10972800" cy="97536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720" y="4518660"/>
            <a:ext cx="9142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81B5FF"/>
                </a:solidFill>
                <a:latin typeface="Segoe UI"/>
                <a:ea typeface="Microsoft YaHei"/>
                <a:cs typeface="Microsoft YaHei"/>
              </a:rPr>
              <a:t>QSWeb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2300" y="4503420"/>
            <a:ext cx="2956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统一工作台 · 执行服务 · 用户与任务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2300" y="4846320"/>
            <a:ext cx="19202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docs/13-统一计算图工作台.md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2300" y="5014722"/>
            <a:ext cx="25453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backend/app/services/graph_service.py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2300" y="5183124"/>
            <a:ext cx="13716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CAEC5"/>
                </a:solidFill>
                <a:latin typeface="Microsoft YaHei"/>
                <a:ea typeface="Microsoft YaHei"/>
                <a:cs typeface="Microsoft YaHei"/>
              </a:rPr>
              <a:t>frontend/src/App.tsx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40" y="5676900"/>
            <a:ext cx="494538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F1F5FA"/>
                </a:solidFill>
                <a:latin typeface="Microsoft YaHei"/>
                <a:ea typeface="Microsoft YaHei"/>
                <a:cs typeface="Microsoft YaHei"/>
              </a:rPr>
              <a:t>考察日期：2026.10.20  /  本地工作区快照，包含未提交改动。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40" y="6004560"/>
            <a:ext cx="5509260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Barra 示例取自 QSResearch 的两份定义脚本，完整路径与处理顺序见第 8 页备注。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600" y="6301740"/>
            <a:ext cx="10972800" cy="0"/>
          </a:xfrm>
          <a:prstGeom prst="line">
            <a:avLst/>
          </a:prstGeom>
          <a:ln w="7620">
            <a:solidFill>
              <a:srgbClr val="29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9600" y="6454140"/>
            <a:ext cx="115824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系统介绍  /  2026.10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0120" y="6454140"/>
            <a:ext cx="23317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9718E"/>
                </a:solidFill>
                <a:latin typeface="Microsoft YaHei"/>
                <a:ea typeface="Microsoft YaHei"/>
                <a:cs typeface="Microsoft YaHei"/>
              </a:rPr>
              <a:t>依据：Q01 · Q02 · E01 · E04 · E07 · W01 · W03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00800"/>
            <a:ext cx="563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EC5"/>
                </a:solidFill>
                <a:latin typeface="Segoe UI"/>
                <a:ea typeface="Microsoft YaHei"/>
                <a:cs typeface="Microsoft YaHe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QuantStudio 系统介绍</dc:title>
  <dc:subject>QuantStudio 系统介绍</dc:subject>
  <dc:creator>QuantStudio</dc:creator>
  <cp:keywords>量化研究,计算图,因子,回测,风险,组合,研究资产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